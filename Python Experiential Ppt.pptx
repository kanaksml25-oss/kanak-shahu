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58" r:id="rId5"/>
    <p:sldId id="260" r:id="rId6"/>
    <p:sldId id="263" r:id="rId7"/>
    <p:sldId id="261" r:id="rId8"/>
    <p:sldId id="262" r:id="rId9"/>
    <p:sldId id="266" r:id="rId10"/>
    <p:sldId id="267" r:id="rId11"/>
    <p:sldId id="268" r:id="rId12"/>
    <p:sldId id="269" r:id="rId13"/>
    <p:sldId id="270" r:id="rId14"/>
    <p:sldId id="271" r:id="rId15"/>
    <p:sldId id="259" r:id="rId16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46050" y="6390640"/>
            <a:ext cx="8832850" cy="309880"/>
          </a:xfrm>
          <a:custGeom>
            <a:avLst/>
            <a:gdLst/>
            <a:ahLst/>
            <a:cxnLst/>
            <a:rect l="l" t="t" r="r" b="b"/>
            <a:pathLst>
              <a:path w="8832850" h="309879">
                <a:moveTo>
                  <a:pt x="8832849" y="309880"/>
                </a:moveTo>
                <a:lnTo>
                  <a:pt x="0" y="309880"/>
                </a:lnTo>
                <a:lnTo>
                  <a:pt x="0" y="0"/>
                </a:lnTo>
                <a:lnTo>
                  <a:pt x="8832849" y="0"/>
                </a:lnTo>
                <a:lnTo>
                  <a:pt x="8832849" y="309880"/>
                </a:lnTo>
                <a:close/>
              </a:path>
            </a:pathLst>
          </a:custGeom>
          <a:solidFill>
            <a:srgbClr val="8BAB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52400" y="158750"/>
            <a:ext cx="8832850" cy="6546850"/>
          </a:xfrm>
          <a:custGeom>
            <a:avLst/>
            <a:gdLst/>
            <a:ahLst/>
            <a:cxnLst/>
            <a:rect l="l" t="t" r="r" b="b"/>
            <a:pathLst>
              <a:path w="8832850" h="6546850">
                <a:moveTo>
                  <a:pt x="4415789" y="6546849"/>
                </a:moveTo>
                <a:lnTo>
                  <a:pt x="0" y="6546849"/>
                </a:lnTo>
                <a:lnTo>
                  <a:pt x="0" y="0"/>
                </a:lnTo>
                <a:lnTo>
                  <a:pt x="8832849" y="0"/>
                </a:lnTo>
                <a:lnTo>
                  <a:pt x="8832849" y="6546849"/>
                </a:lnTo>
                <a:lnTo>
                  <a:pt x="4415789" y="6546849"/>
                </a:lnTo>
                <a:close/>
              </a:path>
            </a:pathLst>
          </a:custGeom>
          <a:ln w="9524">
            <a:solidFill>
              <a:srgbClr val="7997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48426" y="2896496"/>
            <a:ext cx="3082925" cy="756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681404" y="509351"/>
            <a:ext cx="5562599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000000"/>
                </a:solidFill>
                <a:latin typeface="Times New Roman"/>
                <a:cs typeface="Times New Roman"/>
              </a:rPr>
              <a:t>Experiential</a:t>
            </a:r>
            <a:r>
              <a:rPr sz="32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00"/>
                </a:solidFill>
                <a:latin typeface="Times New Roman"/>
                <a:cs typeface="Times New Roman"/>
              </a:rPr>
              <a:t>Learning </a:t>
            </a:r>
            <a:r>
              <a:rPr sz="3200" spc="-25" dirty="0">
                <a:solidFill>
                  <a:srgbClr val="000000"/>
                </a:solidFill>
                <a:latin typeface="Times New Roman"/>
                <a:cs typeface="Times New Roman"/>
              </a:rPr>
              <a:t>Project</a:t>
            </a:r>
            <a:r>
              <a:rPr sz="3200" spc="-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spc="-30" dirty="0">
                <a:solidFill>
                  <a:srgbClr val="000000"/>
                </a:solidFill>
                <a:latin typeface="Times New Roman"/>
                <a:cs typeface="Times New Roman"/>
              </a:rPr>
              <a:t>Assessment-</a:t>
            </a:r>
            <a:r>
              <a:rPr sz="3200" spc="-50" dirty="0">
                <a:solidFill>
                  <a:srgbClr val="000000"/>
                </a:solidFill>
                <a:latin typeface="Times New Roman"/>
                <a:cs typeface="Times New Roman"/>
              </a:rPr>
              <a:t>I </a:t>
            </a:r>
            <a:r>
              <a:rPr sz="3200" spc="-25" dirty="0">
                <a:solidFill>
                  <a:srgbClr val="000000"/>
                </a:solidFill>
                <a:latin typeface="Times New Roman"/>
                <a:cs typeface="Times New Roman"/>
              </a:rPr>
              <a:t>on</a:t>
            </a:r>
            <a:endParaRPr sz="3200" dirty="0">
              <a:latin typeface="Times New Roman"/>
              <a:cs typeface="Times New Roman"/>
            </a:endParaRPr>
          </a:p>
          <a:p>
            <a:pPr marL="2540" algn="ctr">
              <a:lnSpc>
                <a:spcPct val="100000"/>
              </a:lnSpc>
            </a:pPr>
            <a:r>
              <a:rPr sz="3200" dirty="0">
                <a:latin typeface="Times New Roman"/>
                <a:cs typeface="Times New Roman"/>
              </a:rPr>
              <a:t>“</a:t>
            </a:r>
            <a:r>
              <a:rPr lang="en-IN" sz="3200" dirty="0"/>
              <a:t>Dice Rolling Simulator</a:t>
            </a:r>
            <a:r>
              <a:rPr sz="3200" spc="-10" dirty="0">
                <a:latin typeface="Times New Roman"/>
                <a:cs typeface="Times New Roman"/>
              </a:rPr>
              <a:t>”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65150" y="2238120"/>
            <a:ext cx="6595109" cy="8204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0000FF"/>
                </a:solidFill>
                <a:latin typeface="Times New Roman"/>
                <a:cs typeface="Times New Roman"/>
              </a:rPr>
              <a:t>under</a:t>
            </a:r>
            <a:r>
              <a:rPr sz="2800" b="1" spc="-12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00FF"/>
                </a:solidFill>
                <a:latin typeface="Times New Roman"/>
                <a:cs typeface="Times New Roman"/>
              </a:rPr>
              <a:t>the</a:t>
            </a:r>
            <a:r>
              <a:rPr sz="2800" b="1" spc="-7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course</a:t>
            </a:r>
            <a:endParaRPr sz="2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Python</a:t>
            </a:r>
            <a:r>
              <a:rPr sz="2400" b="1" spc="-9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Programming</a:t>
            </a:r>
            <a:r>
              <a:rPr sz="2400" b="1" spc="-9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Language</a:t>
            </a:r>
            <a:r>
              <a:rPr sz="2400" b="1" spc="-9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0000FF"/>
                </a:solidFill>
                <a:latin typeface="Times New Roman"/>
                <a:cs typeface="Times New Roman"/>
              </a:rPr>
              <a:t>(N-</a:t>
            </a:r>
            <a:r>
              <a:rPr sz="24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PCCCM304P)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4104" y="3488922"/>
            <a:ext cx="2514600" cy="9618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Presented</a:t>
            </a:r>
            <a:r>
              <a:rPr sz="2000" b="1" spc="-10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By</a:t>
            </a:r>
            <a:endParaRPr lang="en-US" sz="2000" b="1" spc="-25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000" b="1" spc="-25" dirty="0">
                <a:latin typeface="Times New Roman"/>
                <a:cs typeface="Times New Roman"/>
              </a:rPr>
              <a:t>Kanak S. Shahu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000" b="1" spc="-25" dirty="0">
                <a:latin typeface="Times New Roman"/>
                <a:cs typeface="Times New Roman"/>
              </a:rPr>
              <a:t>CM25022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99716" y="3292240"/>
            <a:ext cx="2406084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4569" marR="5080" indent="-992505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Under</a:t>
            </a:r>
            <a:r>
              <a:rPr sz="2000" b="1" spc="-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Guidance </a:t>
            </a:r>
            <a:r>
              <a:rPr sz="2000" b="1" spc="-25" dirty="0">
                <a:latin typeface="Times New Roman"/>
                <a:cs typeface="Times New Roman"/>
              </a:rPr>
              <a:t>of</a:t>
            </a:r>
            <a:endParaRPr sz="2000" dirty="0">
              <a:latin typeface="Times New Roman"/>
              <a:cs typeface="Times New Roman"/>
            </a:endParaRPr>
          </a:p>
          <a:p>
            <a:pPr marL="20955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M</a:t>
            </a:r>
            <a:r>
              <a:rPr lang="en-US" sz="2000" b="1" dirty="0">
                <a:latin typeface="Times New Roman"/>
                <a:cs typeface="Times New Roman"/>
              </a:rPr>
              <a:t>s. Suchita  </a:t>
            </a:r>
            <a:r>
              <a:rPr lang="en-US" sz="2000" b="1" dirty="0" err="1">
                <a:latin typeface="Times New Roman"/>
                <a:cs typeface="Times New Roman"/>
              </a:rPr>
              <a:t>Meshkar</a:t>
            </a:r>
            <a:endParaRPr sz="2000" dirty="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38575" y="3286617"/>
            <a:ext cx="1455566" cy="102441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026697" y="4662423"/>
            <a:ext cx="7976870" cy="2033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15210">
              <a:lnSpc>
                <a:spcPct val="100000"/>
              </a:lnSpc>
              <a:spcBef>
                <a:spcPts val="100"/>
              </a:spcBef>
            </a:pPr>
            <a:r>
              <a:rPr sz="2200" b="1" spc="-10" dirty="0">
                <a:latin typeface="Times New Roman"/>
                <a:cs typeface="Times New Roman"/>
              </a:rPr>
              <a:t>Session:2026-</a:t>
            </a:r>
            <a:r>
              <a:rPr sz="2200" b="1" dirty="0">
                <a:latin typeface="Times New Roman"/>
                <a:cs typeface="Times New Roman"/>
              </a:rPr>
              <a:t>27</a:t>
            </a:r>
            <a:r>
              <a:rPr sz="2200" b="1" spc="-5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(ODD</a:t>
            </a:r>
            <a:r>
              <a:rPr sz="2200" b="1" spc="-50" dirty="0">
                <a:latin typeface="Times New Roman"/>
                <a:cs typeface="Times New Roman"/>
              </a:rPr>
              <a:t> )</a:t>
            </a:r>
            <a:endParaRPr sz="2200" dirty="0">
              <a:latin typeface="Times New Roman"/>
              <a:cs typeface="Times New Roman"/>
            </a:endParaRPr>
          </a:p>
          <a:p>
            <a:pPr marL="2287905">
              <a:lnSpc>
                <a:spcPct val="100000"/>
              </a:lnSpc>
              <a:spcBef>
                <a:spcPts val="15"/>
              </a:spcBef>
            </a:pPr>
            <a:r>
              <a:rPr sz="1800" b="1" dirty="0">
                <a:latin typeface="Times New Roman"/>
                <a:cs typeface="Times New Roman"/>
              </a:rPr>
              <a:t>Department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of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CSE(AI&amp;ML)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ts val="2340"/>
              </a:lnSpc>
              <a:spcBef>
                <a:spcPts val="635"/>
              </a:spcBef>
            </a:pPr>
            <a:r>
              <a:rPr sz="2000" b="1" dirty="0">
                <a:latin typeface="Times New Roman"/>
                <a:cs typeface="Times New Roman"/>
              </a:rPr>
              <a:t>S.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B.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JAIN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INSTITUTE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125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TECHNOLOGY</a:t>
            </a:r>
            <a:r>
              <a:rPr sz="2000" b="1" spc="-9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MANAGEMENT</a:t>
            </a:r>
            <a:r>
              <a:rPr sz="2000" b="1" spc="-15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AND</a:t>
            </a:r>
            <a:endParaRPr sz="2000" dirty="0">
              <a:latin typeface="Times New Roman"/>
              <a:cs typeface="Times New Roman"/>
            </a:endParaRPr>
          </a:p>
          <a:p>
            <a:pPr marL="2265045">
              <a:lnSpc>
                <a:spcPts val="2255"/>
              </a:lnSpc>
            </a:pPr>
            <a:r>
              <a:rPr sz="2000" b="1" spc="-10" dirty="0">
                <a:latin typeface="Times New Roman"/>
                <a:cs typeface="Times New Roman"/>
              </a:rPr>
              <a:t>RESEARCH,NAGPUR</a:t>
            </a:r>
            <a:endParaRPr sz="2000" dirty="0">
              <a:latin typeface="Times New Roman"/>
              <a:cs typeface="Times New Roman"/>
            </a:endParaRPr>
          </a:p>
          <a:p>
            <a:pPr marL="481330">
              <a:lnSpc>
                <a:spcPts val="2315"/>
              </a:lnSpc>
            </a:pPr>
            <a:r>
              <a:rPr sz="2000" b="1" spc="-20" dirty="0">
                <a:latin typeface="Times New Roman"/>
                <a:cs typeface="Times New Roman"/>
              </a:rPr>
              <a:t>An</a:t>
            </a:r>
            <a:r>
              <a:rPr sz="2000" b="1" spc="-11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Autonomous</a:t>
            </a:r>
            <a:r>
              <a:rPr sz="2000" b="1" spc="-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Institute,</a:t>
            </a:r>
            <a:r>
              <a:rPr sz="2000" b="1" spc="-1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Affiliated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RTMNU,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Nagpur</a:t>
            </a:r>
            <a:endParaRPr sz="2000" dirty="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1770"/>
              </a:spcBef>
            </a:pPr>
            <a:r>
              <a:rPr sz="1400" b="1" spc="-5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1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57859" y="321817"/>
            <a:ext cx="12458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0" spc="-10" dirty="0">
                <a:solidFill>
                  <a:srgbClr val="000000"/>
                </a:solidFill>
                <a:latin typeface="Arial MT"/>
                <a:cs typeface="Arial MT"/>
              </a:rPr>
              <a:t>Contents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3567" y="892555"/>
            <a:ext cx="7186930" cy="19456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3525" indent="-25082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63525" algn="l"/>
              </a:tabLst>
            </a:pPr>
            <a:r>
              <a:rPr sz="1800" spc="-10" dirty="0">
                <a:latin typeface="Calibri"/>
                <a:cs typeface="Calibri"/>
              </a:rPr>
              <a:t>Problem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statement</a:t>
            </a:r>
            <a:endParaRPr sz="1800">
              <a:latin typeface="Calibri"/>
              <a:cs typeface="Calibri"/>
            </a:endParaRPr>
          </a:p>
          <a:p>
            <a:pPr marL="263525" indent="-250825">
              <a:lnSpc>
                <a:spcPct val="100000"/>
              </a:lnSpc>
              <a:buFont typeface="Arial MT"/>
              <a:buChar char="•"/>
              <a:tabLst>
                <a:tab pos="263525" algn="l"/>
              </a:tabLst>
            </a:pPr>
            <a:r>
              <a:rPr sz="1800" spc="-10" dirty="0">
                <a:latin typeface="Calibri"/>
                <a:cs typeface="Calibri"/>
              </a:rPr>
              <a:t>Objectives</a:t>
            </a:r>
            <a:endParaRPr sz="1800">
              <a:latin typeface="Calibri"/>
              <a:cs typeface="Calibri"/>
            </a:endParaRPr>
          </a:p>
          <a:p>
            <a:pPr marL="263525" indent="-250825">
              <a:lnSpc>
                <a:spcPct val="100000"/>
              </a:lnSpc>
              <a:buFont typeface="Arial MT"/>
              <a:buChar char="•"/>
              <a:tabLst>
                <a:tab pos="263525" algn="l"/>
              </a:tabLst>
            </a:pPr>
            <a:r>
              <a:rPr sz="1800" spc="-10" dirty="0">
                <a:latin typeface="Calibri"/>
                <a:cs typeface="Calibri"/>
              </a:rPr>
              <a:t>Algorithm</a:t>
            </a:r>
            <a:endParaRPr sz="1800">
              <a:latin typeface="Calibri"/>
              <a:cs typeface="Calibri"/>
            </a:endParaRPr>
          </a:p>
          <a:p>
            <a:pPr marL="263525" indent="-250825">
              <a:lnSpc>
                <a:spcPct val="100000"/>
              </a:lnSpc>
              <a:buFont typeface="Arial MT"/>
              <a:buChar char="•"/>
              <a:tabLst>
                <a:tab pos="263525" algn="l"/>
              </a:tabLst>
            </a:pPr>
            <a:r>
              <a:rPr sz="1800" spc="-10" dirty="0">
                <a:latin typeface="Calibri"/>
                <a:cs typeface="Calibri"/>
              </a:rPr>
              <a:t>Flowchart/pseudocode</a:t>
            </a:r>
            <a:endParaRPr sz="1800">
              <a:latin typeface="Calibri"/>
              <a:cs typeface="Calibri"/>
            </a:endParaRPr>
          </a:p>
          <a:p>
            <a:pPr marL="263525" indent="-250825">
              <a:lnSpc>
                <a:spcPct val="100000"/>
              </a:lnSpc>
              <a:buFont typeface="Arial MT"/>
              <a:buChar char="•"/>
              <a:tabLst>
                <a:tab pos="263525" algn="l"/>
              </a:tabLst>
            </a:pPr>
            <a:r>
              <a:rPr sz="1800" spc="-20" dirty="0">
                <a:latin typeface="Calibri"/>
                <a:cs typeface="Calibri"/>
              </a:rPr>
              <a:t>Understanding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Python</a:t>
            </a:r>
            <a:r>
              <a:rPr sz="1800" spc="-10" dirty="0">
                <a:latin typeface="Calibri"/>
                <a:cs typeface="Calibri"/>
              </a:rPr>
              <a:t> logic</a:t>
            </a:r>
            <a:endParaRPr sz="1800">
              <a:latin typeface="Calibri"/>
              <a:cs typeface="Calibri"/>
            </a:endParaRPr>
          </a:p>
          <a:p>
            <a:pPr marL="264160" marR="5080" indent="-252095">
              <a:lnSpc>
                <a:spcPct val="100000"/>
              </a:lnSpc>
              <a:buFont typeface="Arial MT"/>
              <a:buChar char="•"/>
              <a:tabLst>
                <a:tab pos="264160" algn="l"/>
              </a:tabLst>
            </a:pPr>
            <a:r>
              <a:rPr sz="1800" dirty="0">
                <a:latin typeface="Calibri"/>
                <a:cs typeface="Calibri"/>
              </a:rPr>
              <a:t>GitHub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account,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repository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creation,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uploading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code,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meaningful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commits, </a:t>
            </a:r>
            <a:r>
              <a:rPr sz="1800" spc="-20" dirty="0">
                <a:latin typeface="Calibri"/>
                <a:cs typeface="Calibri"/>
              </a:rPr>
              <a:t>collaboration,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individual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contribution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2270" y="6405330"/>
            <a:ext cx="3459479" cy="459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8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S.</a:t>
            </a:r>
            <a:r>
              <a:rPr sz="12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B.</a:t>
            </a:r>
            <a:r>
              <a:rPr sz="12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Jain</a:t>
            </a:r>
            <a:r>
              <a:rPr sz="12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Institute</a:t>
            </a:r>
            <a:r>
              <a:rPr sz="12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12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Technology</a:t>
            </a:r>
            <a:r>
              <a:rPr sz="12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Management</a:t>
            </a:r>
            <a:r>
              <a:rPr sz="12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and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research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8" name="Picture 7" descr="Dice Rolling Simulator Python Game [Source Code Included] - DataFlair">
            <a:extLst>
              <a:ext uri="{FF2B5EF4-FFF2-40B4-BE49-F238E27FC236}">
                <a16:creationId xmlns:a16="http://schemas.microsoft.com/office/drawing/2014/main" id="{A68BEB7B-058E-477A-558D-80EB49A48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3458772"/>
            <a:ext cx="4837938" cy="252633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27E6886-EFF4-03B5-CD77-63DDD3D7575A}"/>
              </a:ext>
            </a:extLst>
          </p:cNvPr>
          <p:cNvSpPr txBox="1"/>
          <p:nvPr/>
        </p:nvSpPr>
        <p:spPr>
          <a:xfrm>
            <a:off x="381000" y="381000"/>
            <a:ext cx="8001000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Problem Statement :</a:t>
            </a:r>
          </a:p>
          <a:p>
            <a:endParaRPr lang="en-IN" sz="2000" b="1" dirty="0"/>
          </a:p>
          <a:p>
            <a:r>
              <a:rPr lang="en-IN" sz="2000" b="1" dirty="0"/>
              <a:t>Dice Rolling Simulator:</a:t>
            </a:r>
          </a:p>
          <a:p>
            <a:r>
              <a:rPr lang="en-IN" sz="2000" dirty="0"/>
              <a:t>Develop a Python-based Dice Rolling Simulator that mimics the rolling of one or more dice. The application should generate random numbers between 1 and 6 to simulate the outcome of rolling a standard six-sided die. Users should be able to roll the dice multiple times, view the results, and optionally maintain a history of previous rolls. The project should provide an interactive and user-friendly interface while demonstrating the use of Python's randomization techniques, loops, functions, and exception handling.</a:t>
            </a:r>
          </a:p>
          <a:p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1823610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886573-B14A-B7D9-152D-0F5234E6BF94}"/>
              </a:ext>
            </a:extLst>
          </p:cNvPr>
          <p:cNvSpPr txBox="1"/>
          <p:nvPr/>
        </p:nvSpPr>
        <p:spPr>
          <a:xfrm>
            <a:off x="533400" y="457200"/>
            <a:ext cx="8534400" cy="8402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Objectives : </a:t>
            </a:r>
          </a:p>
          <a:p>
            <a:endParaRPr lang="en-US" sz="2000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To make a program using Python that acts like a real dice.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To generate random numbers between 1 and 6, just like a real six-sided dice.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To let the user roll the dice as many times as they want.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To show the result of each roll to the user.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To keep a record (history) of all the rolls done so far, if the user wants to see it.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To learn and use basic Python ideas like loops, functions, random numbers, and exception handling (handling wrong inputs).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To build a simple menu so the user can choose what to do (roll dice, see history, or exit).</a:t>
            </a:r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IN" sz="20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B51115-34F9-FD59-990D-B83414993380}"/>
              </a:ext>
            </a:extLst>
          </p:cNvPr>
          <p:cNvSpPr txBox="1"/>
          <p:nvPr/>
        </p:nvSpPr>
        <p:spPr>
          <a:xfrm>
            <a:off x="304800" y="228600"/>
            <a:ext cx="8229600" cy="11480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Algorithm : </a:t>
            </a:r>
          </a:p>
          <a:p>
            <a:endParaRPr lang="en-US" sz="2000" b="1" dirty="0"/>
          </a:p>
          <a:p>
            <a:pPr rtl="0"/>
            <a:r>
              <a:rPr lang="en-IN" sz="2000" b="1" dirty="0"/>
              <a:t>Step 1:</a:t>
            </a:r>
            <a:r>
              <a:rPr lang="en-IN" sz="2000" dirty="0"/>
              <a:t> Start the program. </a:t>
            </a:r>
          </a:p>
          <a:p>
            <a:pPr rtl="0"/>
            <a:endParaRPr lang="en-IN" sz="2000" dirty="0"/>
          </a:p>
          <a:p>
            <a:pPr rtl="0"/>
            <a:r>
              <a:rPr lang="en-IN" sz="2000" b="1" dirty="0"/>
              <a:t>Step 2:</a:t>
            </a:r>
            <a:r>
              <a:rPr lang="en-IN" sz="2000" dirty="0"/>
              <a:t> Create an empty list to store the history of rolls.</a:t>
            </a:r>
          </a:p>
          <a:p>
            <a:pPr rtl="0"/>
            <a:endParaRPr lang="en-IN" sz="2000" dirty="0"/>
          </a:p>
          <a:p>
            <a:pPr rtl="0"/>
            <a:r>
              <a:rPr lang="en-IN" sz="2000" b="1" dirty="0"/>
              <a:t>Step 3:</a:t>
            </a:r>
            <a:r>
              <a:rPr lang="en-IN" sz="2000" dirty="0"/>
              <a:t> Show a menu to the user with options:</a:t>
            </a:r>
          </a:p>
          <a:p>
            <a:pPr lvl="0" rtl="0"/>
            <a:r>
              <a:rPr lang="en-IN" sz="2000" dirty="0"/>
              <a:t>Roll the dice</a:t>
            </a:r>
          </a:p>
          <a:p>
            <a:pPr lvl="0" rtl="0"/>
            <a:r>
              <a:rPr lang="en-IN" sz="2000" dirty="0"/>
              <a:t>View roll history</a:t>
            </a:r>
          </a:p>
          <a:p>
            <a:pPr lvl="0" rtl="0"/>
            <a:r>
              <a:rPr lang="en-IN" sz="2000" dirty="0"/>
              <a:t>Exit the program </a:t>
            </a:r>
          </a:p>
          <a:p>
            <a:pPr lvl="0" rtl="0"/>
            <a:endParaRPr lang="en-IN" sz="2000" dirty="0"/>
          </a:p>
          <a:p>
            <a:pPr lvl="0" rtl="0"/>
            <a:r>
              <a:rPr lang="en-IN" sz="2000" b="1" dirty="0"/>
              <a:t>Step 4:</a:t>
            </a:r>
            <a:r>
              <a:rPr lang="en-IN" sz="2000" dirty="0"/>
              <a:t> Ask the user to enter their choice. </a:t>
            </a:r>
          </a:p>
          <a:p>
            <a:pPr lvl="0" rtl="0"/>
            <a:endParaRPr lang="en-IN" sz="2000" dirty="0"/>
          </a:p>
          <a:p>
            <a:pPr lvl="0" rtl="0"/>
            <a:r>
              <a:rPr lang="en-IN" sz="2000" b="1" dirty="0"/>
              <a:t>Step 5:</a:t>
            </a:r>
            <a:r>
              <a:rPr lang="en-IN" sz="2000" dirty="0"/>
              <a:t> If the user chooses "Roll the dice":</a:t>
            </a:r>
          </a:p>
          <a:p>
            <a:pPr lvl="0" rtl="0"/>
            <a:r>
              <a:rPr lang="en-IN" sz="2000" dirty="0"/>
              <a:t>Generate a random number between 1 and 6.</a:t>
            </a:r>
          </a:p>
          <a:p>
            <a:pPr lvl="0" rtl="0"/>
            <a:r>
              <a:rPr lang="en-IN" sz="2000" dirty="0"/>
              <a:t>Show this number to the user as the result.</a:t>
            </a:r>
          </a:p>
          <a:p>
            <a:pPr lvl="0" rtl="0"/>
            <a:r>
              <a:rPr lang="en-IN" sz="2000" dirty="0"/>
              <a:t>Add this number to the history list. </a:t>
            </a:r>
          </a:p>
          <a:p>
            <a:pPr lvl="0" rtl="0"/>
            <a:endParaRPr lang="en-IN" sz="2000" dirty="0"/>
          </a:p>
          <a:p>
            <a:pPr lvl="0" rtl="0"/>
            <a:endParaRPr lang="en-IN" sz="2000" dirty="0"/>
          </a:p>
          <a:p>
            <a:pPr lvl="0" rtl="0"/>
            <a:endParaRPr lang="en-IN" sz="2000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266130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13F398-CC00-FCDC-F0E5-C579ABC656E1}"/>
              </a:ext>
            </a:extLst>
          </p:cNvPr>
          <p:cNvSpPr txBox="1"/>
          <p:nvPr/>
        </p:nvSpPr>
        <p:spPr>
          <a:xfrm>
            <a:off x="304800" y="457200"/>
            <a:ext cx="7620000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rtl="0"/>
            <a:r>
              <a:rPr lang="en-IN" sz="2000" b="1" dirty="0"/>
              <a:t>Step 6:</a:t>
            </a:r>
            <a:r>
              <a:rPr lang="en-IN" sz="2000" dirty="0"/>
              <a:t> If the user chooses "View history":</a:t>
            </a:r>
          </a:p>
          <a:p>
            <a:pPr lvl="0" rtl="0"/>
            <a:r>
              <a:rPr lang="en-IN" sz="2000" dirty="0"/>
              <a:t>Show all the numbers stored in the history list so far. </a:t>
            </a:r>
          </a:p>
          <a:p>
            <a:pPr lvl="0" rtl="0"/>
            <a:endParaRPr lang="en-IN" sz="2000" dirty="0"/>
          </a:p>
          <a:p>
            <a:pPr lvl="0" rtl="0"/>
            <a:r>
              <a:rPr lang="en-IN" sz="2000" b="1" dirty="0"/>
              <a:t>Step 7:</a:t>
            </a:r>
            <a:r>
              <a:rPr lang="en-IN" sz="2000" dirty="0"/>
              <a:t> If the user enters a wrong choice (not 1 to 6):</a:t>
            </a:r>
          </a:p>
          <a:p>
            <a:pPr lvl="0" rtl="0"/>
            <a:r>
              <a:rPr lang="en-IN" sz="2000" dirty="0"/>
              <a:t>Show an error message and ask again (this is exception handling)</a:t>
            </a:r>
          </a:p>
          <a:p>
            <a:pPr lvl="0" rtl="0"/>
            <a:r>
              <a:rPr lang="en-IN" sz="2000" dirty="0"/>
              <a:t> </a:t>
            </a:r>
          </a:p>
          <a:p>
            <a:pPr lvl="0" rtl="0"/>
            <a:r>
              <a:rPr lang="en-IN" sz="2000" b="1" dirty="0"/>
              <a:t>Step 8:</a:t>
            </a:r>
            <a:r>
              <a:rPr lang="en-IN" sz="2000" dirty="0"/>
              <a:t> If the user chooses "Exit":</a:t>
            </a:r>
          </a:p>
          <a:p>
            <a:pPr lvl="0" rtl="0"/>
            <a:r>
              <a:rPr lang="en-IN" sz="2000" dirty="0"/>
              <a:t>Stop the program.</a:t>
            </a:r>
          </a:p>
          <a:p>
            <a:pPr lvl="0" rtl="0"/>
            <a:r>
              <a:rPr lang="en-IN" sz="2000" dirty="0"/>
              <a:t> </a:t>
            </a:r>
          </a:p>
          <a:p>
            <a:pPr lvl="0" rtl="0"/>
            <a:r>
              <a:rPr lang="en-IN" sz="2000" b="1" dirty="0"/>
              <a:t>Step 9:</a:t>
            </a:r>
            <a:r>
              <a:rPr lang="en-IN" sz="2000" dirty="0"/>
              <a:t> Repeat Steps 3 to 8 until the user chooses to exit.</a:t>
            </a:r>
          </a:p>
          <a:p>
            <a:pPr lvl="0" rtl="0"/>
            <a:r>
              <a:rPr lang="en-IN" sz="2000" dirty="0"/>
              <a:t> </a:t>
            </a:r>
          </a:p>
          <a:p>
            <a:pPr lvl="0" rtl="0"/>
            <a:r>
              <a:rPr lang="en-IN" sz="2000" b="1" dirty="0"/>
              <a:t>Step 10:</a:t>
            </a:r>
            <a:r>
              <a:rPr lang="en-IN" sz="2000" dirty="0"/>
              <a:t> End the program.</a:t>
            </a:r>
          </a:p>
          <a:p>
            <a:pPr lvl="0" rtl="0"/>
            <a:endParaRPr lang="en-IN" sz="2000" dirty="0"/>
          </a:p>
          <a:p>
            <a:pPr lvl="0" rtl="0"/>
            <a:endParaRPr lang="en-IN" sz="1800" dirty="0"/>
          </a:p>
          <a:p>
            <a:endParaRPr lang="en-IN" dirty="0"/>
          </a:p>
        </p:txBody>
      </p:sp>
      <p:pic>
        <p:nvPicPr>
          <p:cNvPr id="3" name="Picture 2" descr="Roll Color Dice 6 Sided">
            <a:extLst>
              <a:ext uri="{FF2B5EF4-FFF2-40B4-BE49-F238E27FC236}">
                <a16:creationId xmlns:a16="http://schemas.microsoft.com/office/drawing/2014/main" id="{2023634E-DA73-AEF0-02BB-598FB24FFE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3640394"/>
            <a:ext cx="2514600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714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D40BAB-B6F8-85A8-5EE6-23FB4BEE7559}"/>
              </a:ext>
            </a:extLst>
          </p:cNvPr>
          <p:cNvSpPr txBox="1"/>
          <p:nvPr/>
        </p:nvSpPr>
        <p:spPr>
          <a:xfrm>
            <a:off x="228600" y="228600"/>
            <a:ext cx="7239000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Flowchart :                           </a:t>
            </a:r>
          </a:p>
          <a:p>
            <a:endParaRPr lang="en-US" sz="1400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r>
              <a:rPr lang="en-US" sz="2000" b="1" dirty="0"/>
              <a:t> </a:t>
            </a:r>
            <a:endParaRPr lang="en-IN" sz="2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09544B-50B0-F5C3-F2F3-4EAFA76A5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308312"/>
            <a:ext cx="6019800" cy="5940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974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FFF28E-0041-1A59-43D2-FC7713457FC7}"/>
              </a:ext>
            </a:extLst>
          </p:cNvPr>
          <p:cNvSpPr txBox="1"/>
          <p:nvPr/>
        </p:nvSpPr>
        <p:spPr>
          <a:xfrm>
            <a:off x="304800" y="381000"/>
            <a:ext cx="8458200" cy="5416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Python Logic Used :</a:t>
            </a:r>
          </a:p>
          <a:p>
            <a:endParaRPr lang="en-US" sz="2000" b="1" dirty="0"/>
          </a:p>
          <a:p>
            <a:r>
              <a:rPr lang="en-IN" b="1" dirty="0"/>
              <a:t>1. Random numbers</a:t>
            </a:r>
            <a:br>
              <a:rPr lang="en-IN" dirty="0"/>
            </a:br>
            <a:r>
              <a:rPr lang="en-IN" dirty="0"/>
              <a:t>Python has a tool called random. We use </a:t>
            </a:r>
            <a:r>
              <a:rPr lang="en-IN" dirty="0" err="1"/>
              <a:t>random.randint</a:t>
            </a:r>
            <a:r>
              <a:rPr lang="en-IN" dirty="0"/>
              <a:t>(1, 6) to get a random number between 1 and 6. This is how the computer "rolls" the dice.</a:t>
            </a:r>
            <a:endParaRPr lang="en-US" dirty="0"/>
          </a:p>
          <a:p>
            <a:r>
              <a:rPr lang="en-IN" b="1" dirty="0"/>
              <a:t>2. Loop</a:t>
            </a:r>
            <a:br>
              <a:rPr lang="en-IN" dirty="0"/>
            </a:br>
            <a:r>
              <a:rPr lang="en-IN" dirty="0"/>
              <a:t>We use while True: so the program keeps running again and again, showing the menu every time, until the user says stop.</a:t>
            </a:r>
          </a:p>
          <a:p>
            <a:r>
              <a:rPr lang="en-IN" b="1" dirty="0"/>
              <a:t>3. Function</a:t>
            </a:r>
            <a:br>
              <a:rPr lang="en-IN" dirty="0"/>
            </a:br>
            <a:r>
              <a:rPr lang="en-IN" dirty="0"/>
              <a:t>We put the dice-rolling steps inside one function, like </a:t>
            </a:r>
            <a:r>
              <a:rPr lang="en-IN" dirty="0" err="1"/>
              <a:t>roll_dice</a:t>
            </a:r>
            <a:r>
              <a:rPr lang="en-IN" dirty="0"/>
              <a:t>(). This way we write it once and use it as many times as we want.</a:t>
            </a:r>
          </a:p>
          <a:p>
            <a:r>
              <a:rPr lang="en-IN" b="1" dirty="0"/>
              <a:t>4. List (for history)</a:t>
            </a:r>
            <a:br>
              <a:rPr lang="en-IN" dirty="0"/>
            </a:br>
            <a:r>
              <a:rPr lang="en-IN" dirty="0"/>
              <a:t>A list is like a box that can hold many items. Every time the dice is rolled, we add the number to this list using </a:t>
            </a:r>
            <a:r>
              <a:rPr lang="en-IN" dirty="0" err="1"/>
              <a:t>history.append</a:t>
            </a:r>
            <a:r>
              <a:rPr lang="en-IN" dirty="0"/>
              <a:t>(number). This is how we remember all past rolls.</a:t>
            </a:r>
          </a:p>
          <a:p>
            <a:r>
              <a:rPr lang="en-IN" b="1" dirty="0"/>
              <a:t>5. Try and except (handling wrong input)</a:t>
            </a:r>
            <a:br>
              <a:rPr lang="en-IN" dirty="0"/>
            </a:br>
            <a:r>
              <a:rPr lang="en-IN" dirty="0"/>
              <a:t>If the user types something wrong, like letters instead of numbers, the program would normally crash. try and except let the program catch this mistake and show a simple message instead of crashing.</a:t>
            </a:r>
            <a:r>
              <a:rPr lang="en-US" b="1" dirty="0"/>
              <a:t>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331315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CBA53-980C-DECA-9DD8-A49A8A03E9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381000"/>
            <a:ext cx="7772400" cy="1231106"/>
          </a:xfrm>
        </p:spPr>
        <p:txBody>
          <a:bodyPr/>
          <a:lstStyle/>
          <a:p>
            <a:r>
              <a:rPr lang="en-US" sz="4000" dirty="0">
                <a:solidFill>
                  <a:schemeClr val="tx1"/>
                </a:solidFill>
              </a:rPr>
              <a:t>DICE ROLLING STIMULATOR </a:t>
            </a:r>
            <a:br>
              <a:rPr lang="en-US" sz="4000" dirty="0">
                <a:solidFill>
                  <a:schemeClr val="tx1"/>
                </a:solidFill>
              </a:rPr>
            </a:br>
            <a:r>
              <a:rPr lang="en-US" sz="4000" dirty="0">
                <a:solidFill>
                  <a:schemeClr val="tx1"/>
                </a:solidFill>
              </a:rPr>
              <a:t>               LEVEL - 2</a:t>
            </a:r>
            <a:endParaRPr lang="en-IN" sz="40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6F92A7-4D92-AB55-0705-B449BB954F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828800"/>
            <a:ext cx="6553200" cy="436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2221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952C5-6F72-F3CD-6A93-2DF98D30FC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381000"/>
            <a:ext cx="7772400" cy="492443"/>
          </a:xfrm>
        </p:spPr>
        <p:txBody>
          <a:bodyPr/>
          <a:lstStyle/>
          <a:p>
            <a:r>
              <a:rPr lang="en-US" sz="3200" dirty="0">
                <a:solidFill>
                  <a:schemeClr val="tx1"/>
                </a:solidFill>
              </a:rPr>
              <a:t>Changes made :  </a:t>
            </a:r>
            <a:endParaRPr lang="en-IN" sz="3200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6B54C1-A71A-7D22-5B07-06A7574AD0FA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533400" y="1219200"/>
            <a:ext cx="8077200" cy="5262979"/>
          </a:xfrm>
        </p:spPr>
        <p:txBody>
          <a:bodyPr/>
          <a:lstStyle/>
          <a:p>
            <a:pPr marL="342900" indent="-342900">
              <a:buAutoNum type="arabicPeriod"/>
            </a:pPr>
            <a:r>
              <a:rPr lang="en-IN" b="1" dirty="0"/>
              <a:t>Functions instead of one big block</a:t>
            </a:r>
            <a:br>
              <a:rPr lang="en-IN" dirty="0"/>
            </a:br>
            <a:r>
              <a:rPr lang="en-IN" dirty="0"/>
              <a:t>Earlier, all the code was directly inside the loop. Now I broke it into separate functions — roll dice(), show history(), show statistics(), clear history(). Each function does one job. This makes the code easier to read and easier to fix later.</a:t>
            </a:r>
          </a:p>
          <a:p>
            <a:pPr marL="342900" indent="-342900">
              <a:buAutoNum type="arabicPeriod"/>
            </a:pPr>
            <a:endParaRPr lang="en-IN" dirty="0"/>
          </a:p>
          <a:p>
            <a:pPr marL="342900" indent="-342900">
              <a:buAutoNum type="arabicPeriod"/>
            </a:pPr>
            <a:r>
              <a:rPr lang="en-IN" b="1" dirty="0"/>
              <a:t> Roll many dice at once, not just one</a:t>
            </a:r>
            <a:br>
              <a:rPr lang="en-IN" dirty="0"/>
            </a:br>
            <a:r>
              <a:rPr lang="en-IN" dirty="0"/>
              <a:t>Before, every roll gave only 1 number. Now the program asks "how many dice do you want to roll?" and rolls that many dice together using a loop. This is closer to how a real dice game works (like rolling 2 or 3 dice at once).</a:t>
            </a:r>
          </a:p>
          <a:p>
            <a:pPr marL="342900" indent="-342900">
              <a:buAutoNum type="arabicPeriod"/>
            </a:pPr>
            <a:endParaRPr lang="en-IN" dirty="0"/>
          </a:p>
          <a:p>
            <a:pPr rtl="0"/>
            <a:r>
              <a:rPr lang="en-IN" b="1" dirty="0"/>
              <a:t>3.    Statistics option (new menu item)</a:t>
            </a:r>
            <a:br>
              <a:rPr lang="en-IN" dirty="0"/>
            </a:br>
            <a:r>
              <a:rPr lang="en-IN" dirty="0"/>
              <a:t>       I added a new option that shows:</a:t>
            </a:r>
          </a:p>
          <a:p>
            <a:pPr lvl="0" rtl="0"/>
            <a:r>
              <a:rPr lang="en-IN" dirty="0"/>
              <a:t>       Total number of rolls done so far</a:t>
            </a:r>
          </a:p>
          <a:p>
            <a:pPr lvl="0" rtl="0"/>
            <a:r>
              <a:rPr lang="en-IN" dirty="0"/>
              <a:t>       The highest number rolled</a:t>
            </a:r>
          </a:p>
          <a:p>
            <a:pPr lvl="0" rtl="0"/>
            <a:r>
              <a:rPr lang="en-IN" dirty="0"/>
              <a:t>       The lowest number rolled</a:t>
            </a:r>
          </a:p>
          <a:p>
            <a:pPr lvl="0" rtl="0"/>
            <a:r>
              <a:rPr lang="en-IN" dirty="0"/>
              <a:t>       The average of all rolls</a:t>
            </a:r>
          </a:p>
          <a:p>
            <a:pPr lvl="0" rtl="0"/>
            <a:r>
              <a:rPr lang="en-IN" dirty="0"/>
              <a:t>       How many times each number (1 to 6) has appeared</a:t>
            </a:r>
          </a:p>
          <a:p>
            <a:pPr lvl="0" rtl="0"/>
            <a:r>
              <a:rPr lang="en-IN" dirty="0"/>
              <a:t>       This uses simple Python tools: max(), min(), sum(), and .count().</a:t>
            </a:r>
          </a:p>
          <a:p>
            <a:pPr marL="342900" indent="-342900"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17530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1E3C5E9-0AE7-ED52-6DD3-A980DB00FFEA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533400" y="533400"/>
            <a:ext cx="7772400" cy="3385542"/>
          </a:xfrm>
        </p:spPr>
        <p:txBody>
          <a:bodyPr/>
          <a:lstStyle/>
          <a:p>
            <a:r>
              <a:rPr lang="en-IN" sz="2000" b="1" dirty="0"/>
              <a:t>4. Clear history option (new menu item)</a:t>
            </a:r>
            <a:br>
              <a:rPr lang="en-IN" sz="2000" dirty="0"/>
            </a:br>
            <a:r>
              <a:rPr lang="en-IN" sz="2000" dirty="0"/>
              <a:t>Now the user can empty the history list anytime using </a:t>
            </a:r>
            <a:r>
              <a:rPr lang="en-IN" sz="2000" dirty="0" err="1"/>
              <a:t>history.clear</a:t>
            </a:r>
            <a:r>
              <a:rPr lang="en-IN" sz="2000" dirty="0"/>
              <a:t>(), instead of it just growing forever.</a:t>
            </a:r>
          </a:p>
          <a:p>
            <a:endParaRPr lang="en-IN" sz="2000" dirty="0"/>
          </a:p>
          <a:p>
            <a:r>
              <a:rPr lang="en-IN" sz="2000" b="1" dirty="0"/>
              <a:t>5. Menu grew from 3 options to 5 options</a:t>
            </a:r>
            <a:br>
              <a:rPr lang="en-IN" sz="2000" dirty="0"/>
            </a:br>
            <a:r>
              <a:rPr lang="en-IN" sz="2000" dirty="0"/>
              <a:t>Old menu: Roll / History / Exit</a:t>
            </a:r>
            <a:br>
              <a:rPr lang="en-IN" sz="2000" dirty="0"/>
            </a:br>
            <a:r>
              <a:rPr lang="en-IN" sz="2000" dirty="0"/>
              <a:t>New menu: Roll / History / Statistics / Clear History / Exit</a:t>
            </a:r>
          </a:p>
          <a:p>
            <a:endParaRPr lang="en-IN" sz="2000" dirty="0"/>
          </a:p>
          <a:p>
            <a:r>
              <a:rPr lang="en-IN" sz="2000" b="1" dirty="0"/>
              <a:t>6. Input checking added in one more place</a:t>
            </a:r>
            <a:br>
              <a:rPr lang="en-IN" sz="2000" dirty="0"/>
            </a:br>
            <a:r>
              <a:rPr lang="en-IN" sz="2000" dirty="0"/>
              <a:t>Along with checking the menu choice, we now also check the number of dice entered, so the program doesn't roll 0 or negative dice by mistake.</a:t>
            </a:r>
          </a:p>
        </p:txBody>
      </p:sp>
    </p:spTree>
    <p:extLst>
      <p:ext uri="{BB962C8B-B14F-4D97-AF65-F5344CB8AC3E}">
        <p14:creationId xmlns:p14="http://schemas.microsoft.com/office/powerpoint/2010/main" val="27966434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815ED-30EA-568A-B7FA-4FDCE6B432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57200"/>
            <a:ext cx="7772400" cy="492443"/>
          </a:xfrm>
        </p:spPr>
        <p:txBody>
          <a:bodyPr/>
          <a:lstStyle/>
          <a:p>
            <a:r>
              <a:rPr lang="en-US" sz="3200" dirty="0">
                <a:solidFill>
                  <a:schemeClr val="tx1"/>
                </a:solidFill>
              </a:rPr>
              <a:t>Algorithm :</a:t>
            </a:r>
            <a:endParaRPr lang="en-IN" sz="3200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C36909-BB8A-FFC6-7512-A6092DE3A6D4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457200" y="1371600"/>
            <a:ext cx="7924800" cy="4708981"/>
          </a:xfrm>
        </p:spPr>
        <p:txBody>
          <a:bodyPr/>
          <a:lstStyle/>
          <a:p>
            <a:pPr lvl="0"/>
            <a:r>
              <a:rPr lang="en-IN" dirty="0"/>
              <a:t>1. Start </a:t>
            </a:r>
          </a:p>
          <a:p>
            <a:pPr lvl="0"/>
            <a:r>
              <a:rPr lang="en-IN" dirty="0"/>
              <a:t>2. Import the random module. </a:t>
            </a:r>
          </a:p>
          <a:p>
            <a:pPr lvl="0"/>
            <a:r>
              <a:rPr lang="en-IN" dirty="0"/>
              <a:t>3. Create an empty list called history to store all dice rolls. </a:t>
            </a:r>
          </a:p>
          <a:p>
            <a:pPr lvl="0"/>
            <a:r>
              <a:rPr lang="en-IN" dirty="0"/>
              <a:t>4. Display the menu: </a:t>
            </a:r>
          </a:p>
          <a:p>
            <a:pPr lvl="1"/>
            <a:r>
              <a:rPr lang="en-IN" dirty="0"/>
              <a:t>Roll Dice </a:t>
            </a:r>
          </a:p>
          <a:p>
            <a:pPr lvl="1"/>
            <a:r>
              <a:rPr lang="en-IN" dirty="0"/>
              <a:t>View History </a:t>
            </a:r>
          </a:p>
          <a:p>
            <a:pPr lvl="1"/>
            <a:r>
              <a:rPr lang="en-IN" dirty="0"/>
              <a:t>View Statistics </a:t>
            </a:r>
          </a:p>
          <a:p>
            <a:pPr lvl="1"/>
            <a:r>
              <a:rPr lang="en-IN" dirty="0"/>
              <a:t>Clear History </a:t>
            </a:r>
          </a:p>
          <a:p>
            <a:pPr lvl="1"/>
            <a:r>
              <a:rPr lang="en-IN" dirty="0"/>
              <a:t>Exit </a:t>
            </a:r>
          </a:p>
          <a:p>
            <a:pPr lvl="0"/>
            <a:r>
              <a:rPr lang="en-IN" dirty="0"/>
              <a:t>5. Read the user's choice. </a:t>
            </a:r>
          </a:p>
          <a:p>
            <a:pPr lvl="0"/>
            <a:r>
              <a:rPr lang="en-IN" dirty="0"/>
              <a:t>6. If the choice is 1 (Roll Dice): </a:t>
            </a:r>
          </a:p>
          <a:p>
            <a:pPr lvl="1"/>
            <a:r>
              <a:rPr lang="en-IN" dirty="0"/>
              <a:t>Ask the user for the number of dice. </a:t>
            </a:r>
          </a:p>
          <a:p>
            <a:pPr lvl="1"/>
            <a:r>
              <a:rPr lang="en-IN" dirty="0"/>
              <a:t>Check whether the number is greater than 0. </a:t>
            </a:r>
          </a:p>
          <a:p>
            <a:pPr lvl="1"/>
            <a:r>
              <a:rPr lang="en-IN" dirty="0"/>
              <a:t>Generate a random number from 1 to 6 for each die. </a:t>
            </a:r>
          </a:p>
          <a:p>
            <a:pPr lvl="1"/>
            <a:r>
              <a:rPr lang="en-IN" dirty="0"/>
              <a:t>Store the results in history. </a:t>
            </a:r>
          </a:p>
          <a:p>
            <a:pPr lvl="1"/>
            <a:r>
              <a:rPr lang="en-IN" dirty="0"/>
              <a:t>Display the rolled numbers.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69554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8C44C5B-9478-0758-F21D-7EB5D337BF8C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685800" y="609600"/>
            <a:ext cx="7086600" cy="5539978"/>
          </a:xfrm>
        </p:spPr>
        <p:txBody>
          <a:bodyPr/>
          <a:lstStyle/>
          <a:p>
            <a:pPr lvl="0"/>
            <a:r>
              <a:rPr lang="en-IN" dirty="0"/>
              <a:t>7. If the choice is 2 (View History): </a:t>
            </a:r>
          </a:p>
          <a:p>
            <a:pPr lvl="1"/>
            <a:r>
              <a:rPr lang="en-IN" dirty="0"/>
              <a:t>Check whether the history is empty. </a:t>
            </a:r>
          </a:p>
          <a:p>
            <a:pPr lvl="1"/>
            <a:r>
              <a:rPr lang="en-IN" dirty="0"/>
              <a:t>If empty, display "No rolls yet." </a:t>
            </a:r>
          </a:p>
          <a:p>
            <a:pPr lvl="1"/>
            <a:r>
              <a:rPr lang="en-IN" dirty="0"/>
              <a:t>Otherwise, display all previous rolls. </a:t>
            </a:r>
          </a:p>
          <a:p>
            <a:pPr lvl="0"/>
            <a:r>
              <a:rPr lang="en-IN" dirty="0"/>
              <a:t>8. If the choice is 3 (View Statistics): </a:t>
            </a:r>
          </a:p>
          <a:p>
            <a:pPr lvl="1"/>
            <a:r>
              <a:rPr lang="en-IN" dirty="0"/>
              <a:t>Check whether the history is empty. </a:t>
            </a:r>
          </a:p>
          <a:p>
            <a:pPr lvl="1"/>
            <a:r>
              <a:rPr lang="en-IN" dirty="0"/>
              <a:t>Calculate total rolls, highest roll, lowest roll, and average. </a:t>
            </a:r>
          </a:p>
          <a:p>
            <a:pPr lvl="1"/>
            <a:r>
              <a:rPr lang="en-IN" dirty="0"/>
              <a:t>Count how many times each number from 1 to 6 appeared. </a:t>
            </a:r>
          </a:p>
          <a:p>
            <a:pPr lvl="1"/>
            <a:r>
              <a:rPr lang="en-IN" dirty="0"/>
              <a:t>Display the statistics. </a:t>
            </a:r>
          </a:p>
          <a:p>
            <a:pPr lvl="0"/>
            <a:r>
              <a:rPr lang="en-IN" dirty="0"/>
              <a:t>9. If the choice is 4 (Clear History): </a:t>
            </a:r>
          </a:p>
          <a:p>
            <a:pPr lvl="1"/>
            <a:r>
              <a:rPr lang="en-IN" dirty="0"/>
              <a:t>Clear all values from history. </a:t>
            </a:r>
          </a:p>
          <a:p>
            <a:pPr lvl="1"/>
            <a:r>
              <a:rPr lang="en-IN" dirty="0"/>
              <a:t>Display "History cleared." </a:t>
            </a:r>
          </a:p>
          <a:p>
            <a:pPr lvl="0"/>
            <a:r>
              <a:rPr lang="en-IN" dirty="0"/>
              <a:t>10. If the choice is 5 (Exit): </a:t>
            </a:r>
          </a:p>
          <a:p>
            <a:pPr lvl="1"/>
            <a:r>
              <a:rPr lang="en-IN" dirty="0"/>
              <a:t>Display "Goodbye!" </a:t>
            </a:r>
          </a:p>
          <a:p>
            <a:pPr lvl="1"/>
            <a:r>
              <a:rPr lang="en-IN" dirty="0"/>
              <a:t>Stop the program. </a:t>
            </a:r>
          </a:p>
          <a:p>
            <a:pPr lvl="0"/>
            <a:r>
              <a:rPr lang="en-IN" dirty="0"/>
              <a:t>11. If an invalid choice or non-numeric input is entered, display an appropriate error message. </a:t>
            </a:r>
          </a:p>
          <a:p>
            <a:pPr lvl="0"/>
            <a:r>
              <a:rPr lang="en-IN" dirty="0"/>
              <a:t>12. Repeat the menu until the user selects Exit. </a:t>
            </a:r>
          </a:p>
          <a:p>
            <a:pPr lvl="0"/>
            <a:r>
              <a:rPr lang="en-IN" dirty="0"/>
              <a:t>13. Stop.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52618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F71B4F9-27F2-1943-2760-4C7FCA27C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28600"/>
            <a:ext cx="4572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9763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chemeClr val="tx1"/>
                </a:solidFill>
              </a:rPr>
              <a:t>Thank</a:t>
            </a:r>
            <a:r>
              <a:rPr spc="-260" dirty="0">
                <a:solidFill>
                  <a:schemeClr val="tx1"/>
                </a:solidFill>
              </a:rPr>
              <a:t> </a:t>
            </a:r>
            <a:r>
              <a:rPr spc="-70" dirty="0">
                <a:solidFill>
                  <a:schemeClr val="tx1"/>
                </a:solidFill>
              </a:rPr>
              <a:t>You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3424" y="6355916"/>
            <a:ext cx="5756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8B8B8B"/>
                </a:solidFill>
                <a:latin typeface="Cambria"/>
                <a:cs typeface="Cambria"/>
              </a:rPr>
              <a:t>S.</a:t>
            </a:r>
            <a:r>
              <a:rPr sz="1800" spc="-25" dirty="0">
                <a:solidFill>
                  <a:srgbClr val="8B8B8B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8B8B8B"/>
                </a:solidFill>
                <a:latin typeface="Cambria"/>
                <a:cs typeface="Cambria"/>
              </a:rPr>
              <a:t>B.</a:t>
            </a:r>
            <a:r>
              <a:rPr sz="1800" spc="-20" dirty="0">
                <a:solidFill>
                  <a:srgbClr val="8B8B8B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8B8B8B"/>
                </a:solidFill>
                <a:latin typeface="Cambria"/>
                <a:cs typeface="Cambria"/>
              </a:rPr>
              <a:t>Jain</a:t>
            </a:r>
            <a:r>
              <a:rPr sz="1800" spc="-20" dirty="0">
                <a:solidFill>
                  <a:srgbClr val="8B8B8B"/>
                </a:solidFill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rgbClr val="8B8B8B"/>
                </a:solidFill>
                <a:latin typeface="Cambria"/>
                <a:cs typeface="Cambria"/>
              </a:rPr>
              <a:t>Institute</a:t>
            </a:r>
            <a:r>
              <a:rPr sz="1800" spc="-20" dirty="0">
                <a:solidFill>
                  <a:srgbClr val="8B8B8B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8B8B8B"/>
                </a:solidFill>
                <a:latin typeface="Cambria"/>
                <a:cs typeface="Cambria"/>
              </a:rPr>
              <a:t>of</a:t>
            </a:r>
            <a:r>
              <a:rPr sz="1800" spc="-20" dirty="0">
                <a:solidFill>
                  <a:srgbClr val="8B8B8B"/>
                </a:solidFill>
                <a:latin typeface="Cambria"/>
                <a:cs typeface="Cambria"/>
              </a:rPr>
              <a:t> Technology </a:t>
            </a:r>
            <a:r>
              <a:rPr sz="1800" dirty="0">
                <a:solidFill>
                  <a:srgbClr val="8B8B8B"/>
                </a:solidFill>
                <a:latin typeface="Cambria"/>
                <a:cs typeface="Cambria"/>
              </a:rPr>
              <a:t>Management</a:t>
            </a:r>
            <a:r>
              <a:rPr sz="1800" spc="-20" dirty="0">
                <a:solidFill>
                  <a:srgbClr val="8B8B8B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8B8B8B"/>
                </a:solidFill>
                <a:latin typeface="Cambria"/>
                <a:cs typeface="Cambria"/>
              </a:rPr>
              <a:t>and</a:t>
            </a:r>
            <a:r>
              <a:rPr sz="1800" spc="-20" dirty="0">
                <a:solidFill>
                  <a:srgbClr val="8B8B8B"/>
                </a:solidFill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rgbClr val="8B8B8B"/>
                </a:solidFill>
                <a:latin typeface="Cambria"/>
                <a:cs typeface="Cambria"/>
              </a:rPr>
              <a:t>research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</TotalTime>
  <Words>1303</Words>
  <Application>Microsoft Office PowerPoint</Application>
  <PresentationFormat>On-screen Show (4:3)</PresentationFormat>
  <Paragraphs>177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Arial MT</vt:lpstr>
      <vt:lpstr>Calibri</vt:lpstr>
      <vt:lpstr>Cambria</vt:lpstr>
      <vt:lpstr>Times New Roman</vt:lpstr>
      <vt:lpstr>Office Theme</vt:lpstr>
      <vt:lpstr>Experiential Learning Project Assessment-I on “Dice Rolling Simulator”</vt:lpstr>
      <vt:lpstr>Contents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DICE ROLLING STIMULATOR                 LEVEL - 2</vt:lpstr>
      <vt:lpstr>Changes made :  </vt:lpstr>
      <vt:lpstr>PowerPoint Presentation</vt:lpstr>
      <vt:lpstr>Algorithm :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[Template] PPT Format  -PPL.pptx</dc:title>
  <dc:creator>Kanak</dc:creator>
  <cp:lastModifiedBy>kanak shahu</cp:lastModifiedBy>
  <cp:revision>3</cp:revision>
  <dcterms:created xsi:type="dcterms:W3CDTF">2026-08-16T07:57:43Z</dcterms:created>
  <dcterms:modified xsi:type="dcterms:W3CDTF">2026-09-22T08:05:36Z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2026-08-16T00:00:00Z</vt:filetime>
  </property>
  <property fmtid="{D5CDD505-2E9C-101B-9397-08002B2CF9AE}" pid="4" name="Creator">
    <vt:lpwstr>Google</vt:lpwstr>
  </property>
  <property fmtid="{D5CDD505-2E9C-101B-9397-08002B2CF9AE}" pid="5" name="LastSaved">
    <vt:filetime>2026-08-16T00:00:00Z</vt:filetime>
  </property>
</Properties>
</file>